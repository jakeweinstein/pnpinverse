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17320"/>
            <a:ext cx="384048" cy="3840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19202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general solver for electrochemical</a:t>
            </a:r>
            <a:endParaRPr lang="en-US" sz="3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transport–reaction systems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334670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7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system; the solver handles the math — demonstrated on ORR selectivity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41248" y="4160520"/>
            <a:ext cx="1463040" cy="25603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Weinstein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OF 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framework, many systems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241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Migration–diffusion–reaction with a structured double layer — the same mathematics across electrochemistry.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813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06624" y="148132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14813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CO₂RR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0016" y="148132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813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Electrodeposition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93408" y="148132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14813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340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0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2651760"/>
            <a:ext cx="292608" cy="1280160"/>
          </a:xfrm>
          <a:prstGeom prst="rect">
            <a:avLst/>
          </a:prstGeom>
          <a:solidFill>
            <a:srgbClr val="162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7008" y="2651760"/>
            <a:ext cx="182880" cy="1280160"/>
          </a:xfrm>
          <a:prstGeom prst="rect">
            <a:avLst/>
          </a:prstGeom>
          <a:solidFill>
            <a:srgbClr val="B06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9888" y="2651760"/>
            <a:ext cx="2487168" cy="128016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77056" y="26517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37360" y="3986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layer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572768" y="2852928"/>
            <a:ext cx="118872" cy="11887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3099816"/>
            <a:ext cx="118872" cy="118872"/>
          </a:xfrm>
          <a:prstGeom prst="ellipse">
            <a:avLst/>
          </a:prstGeom>
          <a:solidFill>
            <a:srgbClr val="C0544B"/>
          </a:solidFill>
          <a:ln/>
        </p:spPr>
      </p:sp>
      <p:sp>
        <p:nvSpPr>
          <p:cNvPr id="24" name="Shape 22"/>
          <p:cNvSpPr/>
          <p:nvPr/>
        </p:nvSpPr>
        <p:spPr>
          <a:xfrm>
            <a:off x="2148840" y="3346704"/>
            <a:ext cx="118872" cy="11887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5" name="Shape 23"/>
          <p:cNvSpPr/>
          <p:nvPr/>
        </p:nvSpPr>
        <p:spPr>
          <a:xfrm>
            <a:off x="2450592" y="3593592"/>
            <a:ext cx="118872" cy="118872"/>
          </a:xfrm>
          <a:prstGeom prst="ellipse">
            <a:avLst/>
          </a:prstGeom>
          <a:solidFill>
            <a:srgbClr val="C0544B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2852928"/>
            <a:ext cx="118872" cy="11887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7" name="Shape 25"/>
          <p:cNvSpPr/>
          <p:nvPr/>
        </p:nvSpPr>
        <p:spPr>
          <a:xfrm>
            <a:off x="2852928" y="3099816"/>
            <a:ext cx="118872" cy="11887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3346704"/>
            <a:ext cx="118872" cy="118872"/>
          </a:xfrm>
          <a:prstGeom prst="ellipse">
            <a:avLst/>
          </a:prstGeom>
          <a:solidFill>
            <a:srgbClr val="C0544B"/>
          </a:solidFill>
          <a:ln/>
        </p:spPr>
      </p:sp>
      <p:sp>
        <p:nvSpPr>
          <p:cNvPr id="29" name="Shape 27"/>
          <p:cNvSpPr/>
          <p:nvPr/>
        </p:nvSpPr>
        <p:spPr>
          <a:xfrm>
            <a:off x="3611880" y="3593592"/>
            <a:ext cx="118872" cy="11887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2852928"/>
            <a:ext cx="118872" cy="118872"/>
          </a:xfrm>
          <a:prstGeom prst="ellipse">
            <a:avLst/>
          </a:prstGeom>
          <a:solidFill>
            <a:srgbClr val="C0544B"/>
          </a:solidFill>
          <a:ln/>
        </p:spPr>
      </p:sp>
      <p:sp>
        <p:nvSpPr>
          <p:cNvPr id="31" name="Shape 29"/>
          <p:cNvSpPr/>
          <p:nvPr/>
        </p:nvSpPr>
        <p:spPr>
          <a:xfrm>
            <a:off x="5212080" y="3099816"/>
            <a:ext cx="118872" cy="11887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3346704"/>
            <a:ext cx="118872" cy="118872"/>
          </a:xfrm>
          <a:prstGeom prst="ellipse">
            <a:avLst/>
          </a:prstGeom>
          <a:solidFill>
            <a:srgbClr val="C0544B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demonstrate the workflow on ORR.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halves of 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703320" cy="3154680"/>
          </a:xfrm>
          <a:prstGeom prst="roundRect">
            <a:avLst>
              <a:gd name="adj" fmla="val 2319"/>
            </a:avLst>
          </a:prstGeom>
          <a:solidFill>
            <a:srgbClr val="F4F7FC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specification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electrochemistry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23317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(dynamic &amp; analytic)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&amp; stoichiometry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physics terms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937760" y="1325880"/>
            <a:ext cx="3703320" cy="3154680"/>
          </a:xfrm>
          <a:prstGeom prst="roundRect">
            <a:avLst>
              <a:gd name="adj" fmla="val 2319"/>
            </a:avLst>
          </a:prstGeom>
          <a:solidFill>
            <a:srgbClr val="F4F7FC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325880"/>
            <a:ext cx="3703320" cy="56692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Numerical machinery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66360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solver's job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93792" y="23317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&amp; log-space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Meshing (1D / 2D)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&amp; recovery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convergence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24528" y="2606040"/>
            <a:ext cx="694944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BE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24528" y="25786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B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EQUATIONS &amp; TERMS · MENU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specify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 in the diffuse layer —  </a:t>
            </a:r>
            <a:pPr indent="0" marL="0">
              <a:buNone/>
            </a:pPr>
            <a:r>
              <a:rPr lang="en-US" sz="13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 diffuse and electromigrate in the field.</a:t>
            </a:r>
            <a:endParaRPr lang="en-US" sz="1350" dirty="0"/>
          </a:p>
        </p:txBody>
      </p:sp>
      <p:pic>
        <p:nvPicPr>
          <p:cNvPr id="6" name="Image 0" descr="/Users/jakeweinstein/Desktop/ResearchForwardSolverClone/FireDrakeEnvCG/PNPInverse/writeups/5:27Presentation/build/assets/e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624" y="1636776"/>
            <a:ext cx="4012753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12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Butler–Volmer flux —  </a:t>
            </a:r>
            <a:pPr indent="0" marL="0">
              <a:buNone/>
            </a:pPr>
            <a:r>
              <a:rPr lang="en-US" sz="13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scales with exp(overpotential), tied to the applied voltage.</a:t>
            </a:r>
            <a:endParaRPr lang="en-US" sz="1350" dirty="0"/>
          </a:p>
        </p:txBody>
      </p:sp>
      <p:pic>
        <p:nvPicPr>
          <p:cNvPr id="8" name="Image 1" descr="/Users/jakeweinstein/Desktop/ResearchForwardSolverClone/FireDrakeEnvCG/PNPInverse/writeups/5:27Presentation/build/assets/eq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122" y="2514600"/>
            <a:ext cx="3809756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9809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Steric correction —  </a:t>
            </a:r>
            <a:pPr indent="0" marL="0">
              <a:buNone/>
            </a:pPr>
            <a:r>
              <a:rPr lang="en-US" sz="13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non-physical ion concentrations.</a:t>
            </a:r>
            <a:endParaRPr lang="en-US" sz="1350" dirty="0"/>
          </a:p>
        </p:txBody>
      </p:sp>
      <p:pic>
        <p:nvPicPr>
          <p:cNvPr id="10" name="Image 2" descr="/Users/jakeweinstein/Desktop/ResearchForwardSolverClone/FireDrakeEnvCG/PNPInverse/writeups/5:27Presentation/build/assets/eq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599" y="3282696"/>
            <a:ext cx="2580803" cy="4389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38587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layer —  </a:t>
            </a:r>
            <a:pPr indent="0" marL="0">
              <a:buNone/>
            </a:pPr>
            <a:r>
              <a:rPr lang="en-US" sz="13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as a Robin boundary condition.</a:t>
            </a:r>
            <a:endParaRPr lang="en-US" sz="1350" dirty="0"/>
          </a:p>
        </p:txBody>
      </p:sp>
      <p:pic>
        <p:nvPicPr>
          <p:cNvPr id="12" name="Image 3" descr="/Users/jakeweinstein/Desktop/ResearchForwardSolverClone/FireDrakeEnvCG/PNPInverse/writeups/5:27Presentation/build/assets/eq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953" y="4160520"/>
            <a:ext cx="3492094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 · MENU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specify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9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70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Dirichlet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57984" y="1170432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1170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Butler–Volmer flux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58768" y="1170432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06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1170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Robin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59552" y="1170432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14416" y="1170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No-flux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0336" y="1170432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170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Bikerman</a:t>
            </a:r>
            <a:endParaRPr lang="en-US" sz="1150" dirty="0"/>
          </a:p>
        </p:txBody>
      </p:sp>
      <p:pic>
        <p:nvPicPr>
          <p:cNvPr id="15" name="Image 0" descr="/Users/jakeweinstein/Desktop/ResearchForwardSolverClone/FireDrakeEnvCG/PNPInverse/writeups/GroupMeetingTalk/figures/s8_s10_domain_double_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28800"/>
            <a:ext cx="699516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match per species, per boundary.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&amp; STOICHIOMETRY · MENU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specify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5875">
            <a:solidFill>
              <a:srgbClr val="2E9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91440" cy="13716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O₂ + 2 H⁺ + 2 e⁻ → H₂O₂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E° = 0.695 V   ·   2e⁻ — the target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5875">
            <a:solidFill>
              <a:srgbClr val="C054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371600"/>
            <a:ext cx="91440" cy="1371600"/>
          </a:xfrm>
          <a:prstGeom prst="rect">
            <a:avLst/>
          </a:prstGeom>
          <a:solidFill>
            <a:srgbClr val="C0544B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508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O₂ + 4 H⁺ + 4 e⁻ → 2 H₂O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E° = 1.23 V   ·   4e⁻ — the loss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stoichiometry · nₑ · E° · α · k₀   →   log-rate Butler–Volmer   (parallel or sequential)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554480" y="379476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6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379476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coefficient or append a reaction — the flux re-assembles.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DIFFICULTY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numerically hard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Concentrations span ~10 orders of magnitude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domain.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potential varies sharply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right at the Stern layer.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exponential Butler–Volmer term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drives steep buildup in c and φ at the boundary.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and electromigration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 on very different timescales — the system is stiff.</a:t>
            </a:r>
            <a:endParaRPr lang="en-US" sz="1450" dirty="0"/>
          </a:p>
        </p:txBody>
      </p:sp>
      <p:pic>
        <p:nvPicPr>
          <p:cNvPr id="6" name="Image 0" descr="/Users/jakeweinstein/Desktop/ResearchForwardSolverClone/FireDrakeEnvCG/PNPInverse/writeups/5:27Presentation/build/assets/eq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8506" y="3154680"/>
            <a:ext cx="3786988" cy="502920"/>
          </a:xfrm>
          <a:prstGeom prst="rect">
            <a:avLst/>
          </a:prstGeom>
        </p:spPr>
      </p:pic>
      <p:pic>
        <p:nvPicPr>
          <p:cNvPr id="7" name="Image 1" descr="/Users/jakeweinstein/Desktop/ResearchForwardSolverClone/FireDrakeEnvCG/PNPInverse/writeups/5:27Presentation/build/assets/eq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050" y="4069080"/>
            <a:ext cx="2581900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solve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624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3441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μ = ln c + z·φ</a:t>
            </a:r>
            <a:pPr indent="0" marL="0">
              <a:buNone/>
            </a:pPr>
            <a:r>
              <a:rPr lang="en-US" sz="14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mirrors the no-flux analytic solution.</a:t>
            </a:r>
            <a:endParaRPr lang="en-US" sz="1400" dirty="0"/>
          </a:p>
        </p:txBody>
      </p:sp>
      <p:pic>
        <p:nvPicPr>
          <p:cNvPr id="8" name="Image 0" descr="/Users/jakeweinstein/Desktop/ResearchForwardSolverClone/FireDrakeEnvCG/PNPInverse/writeups/5:27Presentation/build/assets/eq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655064"/>
            <a:ext cx="3883091" cy="310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1945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6243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78992" y="22128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Log-rate Butler–Volmer</a:t>
            </a:r>
            <a:pPr indent="0" marL="0">
              <a:buNone/>
            </a:pPr>
            <a:r>
              <a:rPr lang="en-US" sz="14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build the rate in log-space, exponentiate once (no overflow).</a:t>
            </a:r>
            <a:endParaRPr lang="en-US" sz="1400" dirty="0"/>
          </a:p>
        </p:txBody>
      </p:sp>
      <p:pic>
        <p:nvPicPr>
          <p:cNvPr id="12" name="Image 1" descr="/Users/jakeweinstein/Desktop/ResearchForwardSolverClone/FireDrakeEnvCG/PNPInverse/writeups/5:27Presentation/build/assets/eq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523744"/>
            <a:ext cx="5125761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3017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6243B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78992" y="3035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closure for non-reactive ions.</a:t>
            </a:r>
            <a:pPr indent="0" marL="0">
              <a:buNone/>
            </a:pPr>
            <a:r>
              <a:rPr lang="en-US" sz="14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</p:txBody>
      </p:sp>
      <p:pic>
        <p:nvPicPr>
          <p:cNvPr id="16" name="Image 2" descr="/Users/jakeweinstein/Desktop/ResearchForwardSolverClone/FireDrakeEnvCG/PNPInverse/writeups/5:27Presentation/build/assets/eq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346704"/>
            <a:ext cx="3673328" cy="40233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39776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6243B"/>
          </a:solidFill>
          <a:ln/>
        </p:spPr>
      </p:sp>
      <p:sp>
        <p:nvSpPr>
          <p:cNvPr id="18" name="Text 13"/>
          <p:cNvSpPr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78992" y="39959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pPr indent="0" marL="0">
              <a:buNone/>
            </a:pPr>
            <a:r>
              <a:rPr lang="en-US" sz="14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never solve the hard problem cold (next slide).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Continuation: deform easy → hard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rate k₀: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ramp from ~10⁻¹²× physical up to physical, warm-starting each step.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capacitance: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ramp up (stiffer as C_S grows).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walk: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converge near the equilibrium voltage, then step out across the window.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bisection: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insert intermediate steps when one fails — recover, don't restart.</a:t>
            </a:r>
            <a:endParaRPr lang="en-US" sz="1300" dirty="0"/>
          </a:p>
        </p:txBody>
      </p:sp>
      <p:pic>
        <p:nvPicPr>
          <p:cNvPr id="6" name="Image 0" descr="/Users/jakeweinstein/Desktop/ResearchForwardSolverClone/FireDrakeEnvCG/PNPInverse/writeups/GroupMeetingTalk/figures/continuation_bi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643" y="2423160"/>
            <a:ext cx="5712714" cy="2240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of concept: ORR selectivity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system, declared from the menu: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2e⁻ (0.695 V) + 4e⁻ (1.23 V)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K⁺ / SO₄²⁻ electrolyte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Finite-size ions (Bikerman)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+ Butler–Volmer + bulk BCs</a:t>
            </a:r>
            <a:endParaRPr lang="en-US" sz="1500" dirty="0"/>
          </a:p>
        </p:txBody>
      </p:sp>
      <p:pic>
        <p:nvPicPr>
          <p:cNvPr id="6" name="Image 0" descr="/Users/jakeweinstein/Desktop/ResearchForwardSolverClone/FireDrakeEnvCG/PNPInverse/writeups/5:27Presentation/build/assets/exp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5758" y="1097280"/>
            <a:ext cx="3238805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4572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Ruggiero / Seitz–Mangan, pH 2–12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proven — and what's left</a:t>
            </a:r>
            <a:endParaRPr lang="en-US" sz="2800" dirty="0"/>
          </a:p>
        </p:txBody>
      </p:sp>
      <p:pic>
        <p:nvPicPr>
          <p:cNvPr id="5" name="Image 0" descr="/Users/jakeweinstein/Desktop/ResearchForwardSolverClone/FireDrakeEnvCG/PNPInverse/StudyResults/jithin_fig_4_26_4_27_4_28/compare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712" y="1097280"/>
            <a:ext cx="2593696" cy="2788920"/>
          </a:xfrm>
          <a:prstGeom prst="rect">
            <a:avLst/>
          </a:prstGeom>
        </p:spPr>
      </p:pic>
      <p:pic>
        <p:nvPicPr>
          <p:cNvPr id="6" name="Image 1" descr="/Users/jakeweinstein/Desktop/ResearchForwardSolverClone/FireDrakeEnvCG/PNPInverse/writeups/GroupMeetingTalk/figures/s22_mms_r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234440"/>
            <a:ext cx="3721608" cy="2514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the prior model (~5%)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069080" y="39319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 → textbook convergence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426110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43B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26110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gap to experiment is model selection</a:t>
            </a:r>
            <a:pPr algn="ctr" indent="0" marL="0">
              <a:buNone/>
            </a:pPr>
            <a:r>
              <a:rPr lang="en-US" sz="1400" dirty="0">
                <a:solidFill>
                  <a:srgbClr val="C7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solver.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 and 2D — both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331720"/>
            <a:ext cx="164592" cy="640080"/>
          </a:xfrm>
          <a:prstGeom prst="rect">
            <a:avLst/>
          </a:prstGeom>
          <a:solidFill>
            <a:srgbClr val="16243B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2587752"/>
            <a:ext cx="2286000" cy="128016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fitting &amp; parameter sweeps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0" cy="1920240"/>
          </a:xfrm>
          <a:prstGeom prst="line">
            <a:avLst/>
          </a:prstGeom>
          <a:noFill/>
          <a:ln w="19050">
            <a:solidFill>
              <a:srgbClr val="E2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577840" y="2103120"/>
            <a:ext cx="2560320" cy="1280160"/>
          </a:xfrm>
          <a:prstGeom prst="rect">
            <a:avLst/>
          </a:prstGeom>
          <a:solidFill>
            <a:srgbClr val="EAF1FE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103120"/>
            <a:ext cx="109728" cy="1280160"/>
          </a:xfrm>
          <a:prstGeom prst="rect">
            <a:avLst/>
          </a:prstGeom>
          <a:solidFill>
            <a:srgbClr val="162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2103120"/>
            <a:ext cx="0" cy="128016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03120"/>
            <a:ext cx="0" cy="128016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103120"/>
            <a:ext cx="0" cy="128016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2103120"/>
            <a:ext cx="0" cy="128016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2103120"/>
            <a:ext cx="0" cy="128016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2103120"/>
            <a:ext cx="0" cy="128016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423160"/>
            <a:ext cx="2560320" cy="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743200"/>
            <a:ext cx="2560320" cy="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063240"/>
            <a:ext cx="2560320" cy="0"/>
          </a:xfrm>
          <a:prstGeom prst="line">
            <a:avLst/>
          </a:prstGeom>
          <a:noFill/>
          <a:ln w="9525">
            <a:solidFill>
              <a:srgbClr val="BFD3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cell geometry &amp; radial transport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governing equations — running in 2D today.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— HYPOTHETICAL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it's headed: a Python package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0" cy="3520440"/>
          </a:xfrm>
          <a:prstGeom prst="roundRect">
            <a:avLst>
              <a:gd name="adj" fmla="val 2338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943600" cy="54864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71600"/>
            <a:ext cx="55412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pnpbv as pb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O2 = pb.Species("O2", z=0,  D=2.1e-9, c_bulk=1.2e-3)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= pb.Species("H+", z=+1, D=9.3e-9, c_bulk=1e-4)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 = pb.Species("K+", z=+1, c_bulk=0.2,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analytic=True)        # Boltzmann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r2e = pb.BVReaction("ORR_2e",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reactants={O2:1, H:2}, products={H2O2:1},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n_e=2, E_eq=0.695)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 = pb.Problem(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species=[O2, H2O2, H, K, SO4],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reactions=[r2e, r4e],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electrode=pb.SternElectrode(C_stern=0.20))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 = pb.Solver(prob).solve_grid(v_rhe=(-0.4, 0.8))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37960" y="16002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spec.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handles meshing,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formulation, solving,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recovery.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hyperparameter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autotuning.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sketch — not yet built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— HYPOTHETICAL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55448" cy="155448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it: add your own term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0" cy="3520440"/>
          </a:xfrm>
          <a:prstGeom prst="roundRect">
            <a:avLst>
              <a:gd name="adj" fmla="val 2338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943600" cy="54864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71600"/>
            <a:ext cx="55412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pnpbv.formulations import pnp_steric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ufl import grad, inner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486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PNP + migration + Bikerman steric: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 = pnp_steric(prob)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c, w = res.fields, res.tests   # conc + tests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   = res.dx                  # 2D bulk measure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486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terms the menu doesn't cover (F = 0):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486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peroxide decomposition:  H2O2 -&gt; 1/2 O2 + H2O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res.add( -k_d     * c["H2O2"] * w["H2O2"] * dx 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res.add( +0.5*k_d * c["H2O2"] * w["O2"]   * dx 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486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forced convection (RDE):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res.add( inner(u, grad(c["O2"])) * w["O2"] * dx 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486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continuation + failed-step recovery: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 = pb.Solver.from_weak_form(res).solve_grid(...)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37960" y="16002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not on the menu?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default residual;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terms as plain UFL.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term.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solver, continuation,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recovery ride along.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sketch — not yet built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310896" cy="310896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9875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836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experiment gap by model selection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7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mechanisms: cation hydrolysis / field-dependent pKa, peroxide reduction, water self-ionization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B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7980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the menu &amp; add autotuning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7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terms, BCs, and reactions; let the solver pick its own settings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62102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API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7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predictive simulator for systems in this family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general solver for electrochemical transport–reaction systems</dc:title>
  <dc:subject>PptxGenJS Presentation</dc:subject>
  <dc:creator>Jake Weinstein</dc:creator>
  <cp:lastModifiedBy>Jake Weinstein</cp:lastModifiedBy>
  <cp:revision>1</cp:revision>
  <dcterms:created xsi:type="dcterms:W3CDTF">2026-06-05T04:12:19Z</dcterms:created>
  <dcterms:modified xsi:type="dcterms:W3CDTF">2026-06-05T04:12:19Z</dcterms:modified>
</cp:coreProperties>
</file>