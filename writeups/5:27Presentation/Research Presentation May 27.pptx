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21408"/>
            <a:ext cx="502920" cy="64008"/>
          </a:xfrm>
          <a:prstGeom prst="roundRect">
            <a:avLst>
              <a:gd name="adj" fmla="val 42857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677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MEETING · MAY 27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77824" y="2670048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for scientific computing</a:t>
            </a:r>
            <a:endParaRPr lang="en-US" sz="3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PNP–BV problem, revisited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43708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Jake Weinstein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7365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PDE simulation &amp; inverse kinetics for ORR selectivity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596896"/>
            <a:ext cx="502920" cy="64008"/>
          </a:xfrm>
          <a:prstGeom prst="roundRect">
            <a:avLst>
              <a:gd name="adj" fmla="val 42857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77824" y="3127248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 to the terminal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596896"/>
            <a:ext cx="502920" cy="64008"/>
          </a:xfrm>
          <a:prstGeom prst="roundRect">
            <a:avLst>
              <a:gd name="adj" fmla="val 42857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77824" y="3127248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Preface on the PNP–BV solver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I’ll cover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10058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pPr indent="0" marL="0">
              <a:lnSpc>
                <a:spcPct val="104000"/>
              </a:lnSpc>
              <a:spcAft>
                <a:spcPts val="1300"/>
              </a:spcAft>
              <a:buNone/>
            </a:pPr>
            <a:r>
              <a:rPr lang="en-US" sz="19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ORR selectivity</a:t>
            </a:r>
            <a:endParaRPr lang="en-US" sz="1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pPr indent="0" marL="0">
              <a:lnSpc>
                <a:spcPct val="104000"/>
              </a:lnSpc>
              <a:spcAft>
                <a:spcPts val="1300"/>
              </a:spcAft>
              <a:buNone/>
            </a:pPr>
            <a:r>
              <a:rPr lang="en-US" sz="19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I’m building on</a:t>
            </a:r>
            <a:endParaRPr lang="en-US" sz="1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pPr indent="0" marL="0">
              <a:lnSpc>
                <a:spcPct val="104000"/>
              </a:lnSpc>
              <a:spcAft>
                <a:spcPts val="1300"/>
              </a:spcAft>
              <a:buNone/>
            </a:pPr>
            <a:r>
              <a:rPr lang="en-US" sz="19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— PNP–BV</a:t>
            </a:r>
            <a:endParaRPr lang="en-US" sz="1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</a:t>
            </a:r>
            <a:pPr indent="0" marL="0">
              <a:lnSpc>
                <a:spcPct val="104000"/>
              </a:lnSpc>
              <a:spcAft>
                <a:spcPts val="1300"/>
              </a:spcAft>
              <a:buNone/>
            </a:pPr>
            <a:r>
              <a:rPr lang="en-US" sz="19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hard numerically</a:t>
            </a:r>
            <a:endParaRPr lang="en-US" sz="1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</a:t>
            </a:r>
            <a:pPr indent="0" marL="0">
              <a:lnSpc>
                <a:spcPct val="104000"/>
              </a:lnSpc>
              <a:spcAft>
                <a:spcPts val="1300"/>
              </a:spcAft>
              <a:buNone/>
            </a:pPr>
            <a:r>
              <a:rPr lang="en-US" sz="19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solver cracks it</a:t>
            </a:r>
            <a:endParaRPr lang="en-US" sz="1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</a:t>
            </a:r>
            <a:pPr indent="0" marL="0">
              <a:lnSpc>
                <a:spcPct val="104000"/>
              </a:lnSpc>
              <a:spcAft>
                <a:spcPts val="1300"/>
              </a:spcAft>
              <a:buNone/>
            </a:pPr>
            <a:r>
              <a:rPr lang="en-US" sz="19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— how we know it’s right</a:t>
            </a:r>
            <a:endParaRPr lang="en-US" sz="19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</a:t>
            </a:r>
            <a:pPr indent="0" marL="0">
              <a:lnSpc>
                <a:spcPct val="104000"/>
              </a:lnSpc>
              <a:spcAft>
                <a:spcPts val="1300"/>
              </a:spcAft>
              <a:buNone/>
            </a:pPr>
            <a:r>
              <a:rPr lang="en-US" sz="19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ORR selectivity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376592" y="1463040"/>
            <a:ext cx="7435769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deckbuild/assets/fig_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2896" y="1609344"/>
            <a:ext cx="7143161" cy="3959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6592" y="5779008"/>
            <a:ext cx="743576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the 2e⁻ product (H₂O₂) — not the 4e⁻ loss all the way to water.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it’s measured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099319" y="1417320"/>
            <a:ext cx="3990314" cy="4343400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deckbuild/assets/fig_rr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5623" y="1563624"/>
            <a:ext cx="3697706" cy="4050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99319" y="5824728"/>
            <a:ext cx="399031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ring-disk electrode: the disk makes H₂O₂, the ring downstream detects it.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we’re trying to explain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081482" y="1417320"/>
            <a:ext cx="4025987" cy="4343400"/>
          </a:xfrm>
          <a:prstGeom prst="roundRect">
            <a:avLst>
              <a:gd name="adj" fmla="val 1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deckbuild/assets/fig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7786" y="1563624"/>
            <a:ext cx="3733379" cy="4050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81482" y="5824728"/>
            <a:ext cx="402598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Selectivity, ring &amp; disk current vs potential, across pH (Seitz / Mangan deck).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goal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20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mechanisms actually produce the curves?</a:t>
            </a:r>
            <a:endParaRPr lang="en-US" sz="2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inference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20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recover the kinetics behind them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96112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 solver is the engine; these two are the destination.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Previous work: Jithin George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87452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PDE solve</a:t>
            </a:r>
            <a:endParaRPr lang="en-US" sz="17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closure for the concentrations, plus an ODE for the potential</a:t>
            </a:r>
            <a:endParaRPr lang="en-US" sz="17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boundary equation closes Butler–Volmer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309360" y="1626040"/>
            <a:ext cx="5440680" cy="3743080"/>
          </a:xfrm>
          <a:prstGeom prst="roundRect">
            <a:avLst>
              <a:gd name="adj" fmla="val 17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tmp/deckbuild/assets/fig_pri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1772344"/>
            <a:ext cx="5148072" cy="3450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5433128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model vs experiment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the closure approach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reaction only</a:t>
            </a:r>
            <a:pPr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can’t represent the 2e⁻ / 4e⁻ competition that </a:t>
            </a:r>
            <a:pPr indent="0" marL="0">
              <a:lnSpc>
                <a:spcPct val="104000"/>
              </a:lnSpc>
              <a:buNone/>
            </a:pPr>
            <a:r>
              <a:rPr lang="en-US" sz="17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pPr indent="0" marL="0">
              <a:lnSpc>
                <a:spcPct val="104000"/>
              </a:lnSpc>
              <a:spcAft>
                <a:spcPts val="1700"/>
              </a:spcAft>
              <a:buNone/>
            </a:pPr>
            <a:r>
              <a:rPr lang="en-US" sz="17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selectivity</a:t>
            </a:r>
            <a:endParaRPr lang="en-US" sz="17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closure, not a transport solve</a:t>
            </a:r>
            <a:pPr indent="0" marL="0">
              <a:lnSpc>
                <a:spcPct val="104000"/>
              </a:lnSpc>
              <a:spcAft>
                <a:spcPts val="1700"/>
              </a:spcAft>
              <a:buNone/>
            </a:pPr>
            <a:r>
              <a:rPr lang="en-US" sz="17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hard to add new physics (more ions, steric crowding, the Stern layer, surface coverage)</a:t>
            </a:r>
            <a:endParaRPr lang="en-US" sz="17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fields</a:t>
            </a:r>
            <a:pPr indent="0" marL="0">
              <a:lnSpc>
                <a:spcPct val="104000"/>
              </a:lnSpc>
              <a:spcAft>
                <a:spcPts val="1700"/>
              </a:spcAft>
              <a:buNone/>
            </a:pPr>
            <a:r>
              <a:rPr lang="en-US" sz="17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can’t probe local pH or double-layer structure at the interface</a:t>
            </a:r>
            <a:endParaRPr lang="en-US" sz="17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&amp; cliff</a:t>
            </a:r>
            <a:pPr indent="0" marL="0">
              <a:lnSpc>
                <a:spcPct val="104000"/>
              </a:lnSpc>
              <a:spcAft>
                <a:spcPts val="1700"/>
              </a:spcAft>
              <a:buNone/>
            </a:pPr>
            <a:r>
              <a:rPr lang="en-US" sz="17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 like artifacts of the closed form, not derived transport (per our own emulation)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596896"/>
            <a:ext cx="502920" cy="64008"/>
          </a:xfrm>
          <a:prstGeom prst="roundRect">
            <a:avLst>
              <a:gd name="adj" fmla="val 42857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77824" y="3127248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to the full PDE solver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model: PNP–BV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483298" y="1463040"/>
            <a:ext cx="7222357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deckbuild/assets/fig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9602" y="1609344"/>
            <a:ext cx="6929749" cy="3959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83298" y="5779008"/>
            <a:ext cx="722235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 in the diffuse layer · Butler–Volmer flux at the electrode · Stern Robin BC · analytic Bikerman counterions.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it’s numerically terrible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concentrations span ~10 orders of magnitude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potential varies sharply over a tiny region right at the electrode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BV nonlinearity at the boundary → exponential concentration &amp; potential buildup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Electromigration and diffusion run on very different timescales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solve it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u = ln c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c — guarantees c &gt; 0, tames the buildup</a:t>
            </a:r>
            <a:endParaRPr lang="en-US" sz="16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H⁺, solve for μ = u + φ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smooth across the double layer</a:t>
            </a:r>
            <a:endParaRPr lang="en-US" sz="16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Log-rate Butler–Volmer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 the rate in log-space, exponentiate once →</a:t>
            </a:r>
            <a:endParaRPr lang="en-US" sz="16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non-reactive ions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fewer fields to solve</a:t>
            </a:r>
            <a:endParaRPr lang="en-US" sz="16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solve the hard problem cold</a:t>
            </a:r>
            <a:endParaRPr lang="en-US" sz="1650" dirty="0"/>
          </a:p>
        </p:txBody>
      </p:sp>
      <p:pic>
        <p:nvPicPr>
          <p:cNvPr id="5" name="Image 0" descr="/tmp/deckbuild/assets/eqn_b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240280"/>
            <a:ext cx="5120640" cy="22522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914363" y="1463040"/>
            <a:ext cx="8360226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deckbuild/assets/fig_contin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0667" y="1609344"/>
            <a:ext cx="8067618" cy="3959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14363" y="5779008"/>
            <a:ext cx="83602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 an easy problem into the hard one along three knobs — warm-start every step.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step fails: recover, don’t restart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54133" y="1691640"/>
            <a:ext cx="10480687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deckbuild/assets/fig_re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437" y="1837944"/>
            <a:ext cx="10188079" cy="35021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133" y="5550408"/>
            <a:ext cx="1048068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√-midpoint retry for a failed rung; recursive bisection to walk across the Frumkin cliff.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— manufactured solutions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008775" y="1463040"/>
            <a:ext cx="6171402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deckbuild/assets/fig_m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079" y="1609344"/>
            <a:ext cx="5878794" cy="3959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08775" y="5779008"/>
            <a:ext cx="617140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convergence rates match CG1 theory (L²≈2, H¹≈1) for every field.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— agreement with prior work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257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5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2e⁻ reaction — match the closure’s scope</a:t>
            </a:r>
            <a:endParaRPr lang="en-US" sz="15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5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V_RHE and E° by −0.785 V to align the OCP convention</a:t>
            </a:r>
            <a:endParaRPr lang="en-US" sz="15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5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closure’s transport &amp; steric setup</a:t>
            </a:r>
            <a:endParaRPr lang="en-US" sz="15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5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c_H⁺ from μ for the profiles</a:t>
            </a:r>
            <a:endParaRPr lang="en-US" sz="15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A9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5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 converge; O₂-ratio &amp; profiles within ~5%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70774" y="1371600"/>
            <a:ext cx="5072132" cy="4983480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tmp/deckbuild/assets/fig_agreemen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078" y="1517904"/>
            <a:ext cx="4779524" cy="46908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next?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solver as an experimental engine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8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search for the model that explains the curves</a:t>
            </a:r>
            <a:endParaRPr lang="en-US" sz="1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physics: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8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cation hydrolysis, local-pH coupling, surface coverage</a:t>
            </a:r>
            <a:endParaRPr lang="en-US" sz="1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</a:t>
            </a:r>
            <a:pPr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inverse problem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850" dirty="0">
                <a:solidFill>
                  <a:srgbClr val="F3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infer the kinetics directly from data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91440" cy="566928"/>
          </a:xfrm>
          <a:prstGeom prst="roundRect">
            <a:avLst>
              <a:gd name="adj" fmla="val 40000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438912"/>
            <a:ext cx="10881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3F5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Tentative: cation hydrolysis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674516" y="1463040"/>
            <a:ext cx="683992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tmp/deckbuild/assets/fig_hydro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0820" y="1609344"/>
            <a:ext cx="6547312" cy="3867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74516" y="5687568"/>
            <a:ext cx="683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Field-shifted pKₐ (Singh 2016) turns the cation into a local proton source — reachable by the general solver, not the closure.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PNP–BV solver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2026-05-26T01:10:19Z</dcterms:created>
  <dcterms:modified xsi:type="dcterms:W3CDTF">2026-05-26T01:10:19Z</dcterms:modified>
</cp:coreProperties>
</file>